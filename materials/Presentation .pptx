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unito"/>
      <p:regular r:id="rId15"/>
      <p:bold r:id="rId16"/>
      <p:italic r:id="rId17"/>
      <p:boldItalic r:id="rId18"/>
    </p:embeddedFont>
    <p:embeddedFont>
      <p:font typeface="Maven Pro"/>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venPro-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regular.fntdata"/><Relationship Id="rId14" Type="http://schemas.openxmlformats.org/officeDocument/2006/relationships/slide" Target="slides/slide9.xml"/><Relationship Id="rId17" Type="http://schemas.openxmlformats.org/officeDocument/2006/relationships/font" Target="fonts/Nunito-italic.fntdata"/><Relationship Id="rId16" Type="http://schemas.openxmlformats.org/officeDocument/2006/relationships/font" Target="fonts/Nunito-bold.fntdata"/><Relationship Id="rId5" Type="http://schemas.openxmlformats.org/officeDocument/2006/relationships/notesMaster" Target="notesMasters/notesMaster1.xml"/><Relationship Id="rId19" Type="http://schemas.openxmlformats.org/officeDocument/2006/relationships/font" Target="fonts/MavenPro-regular.fntdata"/><Relationship Id="rId6" Type="http://schemas.openxmlformats.org/officeDocument/2006/relationships/slide" Target="slides/slide1.xml"/><Relationship Id="rId18"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473633fa6e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473633fa6e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473633fa6e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473633fa6e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473633fa6e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473633fa6e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473633fa6e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473633fa6e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473633fa6e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473633fa6e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473633fa6e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473633fa6e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473633fa6e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473633fa6e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473633fa6e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473633fa6e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69725" y="505100"/>
            <a:ext cx="74994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Performance Comparison of Terraform and Cloudify as Multicloud Orchestrators: A Study in Sky Computing Scenarios</a:t>
            </a:r>
            <a:endParaRPr/>
          </a:p>
        </p:txBody>
      </p:sp>
      <p:sp>
        <p:nvSpPr>
          <p:cNvPr id="278" name="Google Shape;278;p13"/>
          <p:cNvSpPr txBox="1"/>
          <p:nvPr>
            <p:ph idx="1" type="subTitle"/>
          </p:nvPr>
        </p:nvSpPr>
        <p:spPr>
          <a:xfrm>
            <a:off x="824000" y="2964950"/>
            <a:ext cx="4255500" cy="132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a:t>
            </a:r>
            <a:endParaRPr/>
          </a:p>
          <a:p>
            <a:pPr indent="0" lvl="0" marL="0" rtl="0" algn="l">
              <a:spcBef>
                <a:spcPts val="0"/>
              </a:spcBef>
              <a:spcAft>
                <a:spcPts val="0"/>
              </a:spcAft>
              <a:buNone/>
            </a:pPr>
            <a:r>
              <a:rPr lang="en"/>
              <a:t> Koteeswaran</a:t>
            </a:r>
            <a:endParaRPr/>
          </a:p>
          <a:p>
            <a:pPr indent="0" lvl="0" marL="0" rtl="0" algn="l">
              <a:spcBef>
                <a:spcPts val="0"/>
              </a:spcBef>
              <a:spcAft>
                <a:spcPts val="0"/>
              </a:spcAft>
              <a:buNone/>
            </a:pPr>
            <a:r>
              <a:rPr lang="en"/>
              <a:t> Salman latheef</a:t>
            </a:r>
            <a:endParaRPr/>
          </a:p>
          <a:p>
            <a:pPr indent="0" lvl="0" marL="0" rtl="0" algn="l">
              <a:spcBef>
                <a:spcPts val="0"/>
              </a:spcBef>
              <a:spcAft>
                <a:spcPts val="0"/>
              </a:spcAft>
              <a:buNone/>
            </a:pPr>
            <a:r>
              <a:rPr lang="en"/>
              <a:t> R M Suchindhar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284" name="Google Shape;284;p1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just">
              <a:lnSpc>
                <a:spcPct val="95000"/>
              </a:lnSpc>
              <a:spcBef>
                <a:spcPts val="0"/>
              </a:spcBef>
              <a:spcAft>
                <a:spcPts val="0"/>
              </a:spcAft>
              <a:buSzPts val="1300"/>
              <a:buFont typeface="Arial"/>
              <a:buChar char="●"/>
            </a:pPr>
            <a:r>
              <a:rPr lang="en">
                <a:latin typeface="Arial"/>
                <a:ea typeface="Arial"/>
                <a:cs typeface="Arial"/>
                <a:sym typeface="Arial"/>
              </a:rPr>
              <a:t>Cloud computing is experiencing significant growth, with a projected investment of over $100 billion by 2023.</a:t>
            </a:r>
            <a:endParaRPr>
              <a:latin typeface="Arial"/>
              <a:ea typeface="Arial"/>
              <a:cs typeface="Arial"/>
              <a:sym typeface="Arial"/>
            </a:endParaRPr>
          </a:p>
          <a:p>
            <a:pPr indent="-311150" lvl="0" marL="457200" rtl="0" algn="just">
              <a:lnSpc>
                <a:spcPct val="95000"/>
              </a:lnSpc>
              <a:spcBef>
                <a:spcPts val="0"/>
              </a:spcBef>
              <a:spcAft>
                <a:spcPts val="0"/>
              </a:spcAft>
              <a:buSzPts val="1300"/>
              <a:buFont typeface="Arial"/>
              <a:buChar char="●"/>
            </a:pPr>
            <a:r>
              <a:rPr lang="en">
                <a:latin typeface="Arial"/>
                <a:ea typeface="Arial"/>
                <a:cs typeface="Arial"/>
                <a:sym typeface="Arial"/>
              </a:rPr>
              <a:t>Multi cloud orchestration plays a crucial role in managing complex cloud environments.</a:t>
            </a:r>
            <a:endParaRPr>
              <a:latin typeface="Arial"/>
              <a:ea typeface="Arial"/>
              <a:cs typeface="Arial"/>
              <a:sym typeface="Arial"/>
            </a:endParaRPr>
          </a:p>
          <a:p>
            <a:pPr indent="-311150" lvl="0" marL="457200" rtl="0" algn="just">
              <a:lnSpc>
                <a:spcPct val="95000"/>
              </a:lnSpc>
              <a:spcBef>
                <a:spcPts val="0"/>
              </a:spcBef>
              <a:spcAft>
                <a:spcPts val="0"/>
              </a:spcAft>
              <a:buSzPts val="1300"/>
              <a:buFont typeface="Arial"/>
              <a:buChar char="●"/>
            </a:pPr>
            <a:r>
              <a:rPr lang="en">
                <a:latin typeface="Arial"/>
                <a:ea typeface="Arial"/>
                <a:cs typeface="Arial"/>
                <a:sym typeface="Arial"/>
              </a:rPr>
              <a:t>The research compares two popular multi cloud orchestrators: Terraform and Cloudify.</a:t>
            </a:r>
            <a:endParaRPr>
              <a:latin typeface="Arial"/>
              <a:ea typeface="Arial"/>
              <a:cs typeface="Arial"/>
              <a:sym typeface="Arial"/>
            </a:endParaRPr>
          </a:p>
          <a:p>
            <a:pPr indent="-311150" lvl="0" marL="457200" rtl="0" algn="just">
              <a:lnSpc>
                <a:spcPct val="95000"/>
              </a:lnSpc>
              <a:spcBef>
                <a:spcPts val="0"/>
              </a:spcBef>
              <a:spcAft>
                <a:spcPts val="0"/>
              </a:spcAft>
              <a:buSzPts val="1300"/>
              <a:buFont typeface="Arial"/>
              <a:buChar char="●"/>
            </a:pPr>
            <a:r>
              <a:rPr lang="en">
                <a:latin typeface="Arial"/>
                <a:ea typeface="Arial"/>
                <a:cs typeface="Arial"/>
                <a:sym typeface="Arial"/>
              </a:rPr>
              <a:t>The purpose of the research is to analyze and compare the performance of these two tools in multi cloud orchestration scenarios, specifically in the context of Sky Computing.</a:t>
            </a:r>
            <a:endParaRPr>
              <a:latin typeface="Arial"/>
              <a:ea typeface="Arial"/>
              <a:cs typeface="Arial"/>
              <a:sym typeface="Arial"/>
            </a:endParaRPr>
          </a:p>
          <a:p>
            <a:pPr indent="-311150" lvl="0" marL="457200" rtl="0" algn="just">
              <a:lnSpc>
                <a:spcPct val="95000"/>
              </a:lnSpc>
              <a:spcBef>
                <a:spcPts val="0"/>
              </a:spcBef>
              <a:spcAft>
                <a:spcPts val="0"/>
              </a:spcAft>
              <a:buSzPts val="1300"/>
              <a:buFont typeface="Arial"/>
              <a:buChar char="●"/>
            </a:pPr>
            <a:r>
              <a:rPr lang="en">
                <a:latin typeface="Arial"/>
                <a:ea typeface="Arial"/>
                <a:cs typeface="Arial"/>
                <a:sym typeface="Arial"/>
              </a:rPr>
              <a:t>The study aims to evaluate their efficiency, resource allocation, provisioning speed, and overall effectiveness in managing complex cloud environments.</a:t>
            </a:r>
            <a:endParaRPr>
              <a:latin typeface="Arial"/>
              <a:ea typeface="Arial"/>
              <a:cs typeface="Arial"/>
              <a:sym typeface="Arial"/>
            </a:endParaRPr>
          </a:p>
          <a:p>
            <a:pPr indent="0" lvl="0" marL="0" rtl="0" algn="just">
              <a:lnSpc>
                <a:spcPct val="95000"/>
              </a:lnSpc>
              <a:spcBef>
                <a:spcPts val="1200"/>
              </a:spcBef>
              <a:spcAft>
                <a:spcPts val="1200"/>
              </a:spcAft>
              <a:buNone/>
            </a:pPr>
            <a:r>
              <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Background</a:t>
            </a:r>
            <a:endParaRPr/>
          </a:p>
        </p:txBody>
      </p:sp>
      <p:sp>
        <p:nvSpPr>
          <p:cNvPr id="290" name="Google Shape;290;p1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just">
              <a:spcBef>
                <a:spcPts val="0"/>
              </a:spcBef>
              <a:spcAft>
                <a:spcPts val="0"/>
              </a:spcAft>
              <a:buSzPts val="1300"/>
              <a:buFont typeface="Arial"/>
              <a:buChar char="●"/>
            </a:pPr>
            <a:r>
              <a:rPr lang="en">
                <a:latin typeface="Arial"/>
                <a:ea typeface="Arial"/>
                <a:cs typeface="Arial"/>
                <a:sym typeface="Arial"/>
              </a:rPr>
              <a:t>Cloud computing offers Infrastructure as a Service (IaaS), Platform as a Service (PaaS), and Software as a Service (SaaS) models.</a:t>
            </a:r>
            <a:endParaRPr>
              <a:latin typeface="Arial"/>
              <a:ea typeface="Arial"/>
              <a:cs typeface="Arial"/>
              <a:sym typeface="Arial"/>
            </a:endParaRPr>
          </a:p>
          <a:p>
            <a:pPr indent="-311150" lvl="0" marL="457200" rtl="0" algn="just">
              <a:spcBef>
                <a:spcPts val="0"/>
              </a:spcBef>
              <a:spcAft>
                <a:spcPts val="0"/>
              </a:spcAft>
              <a:buSzPts val="1300"/>
              <a:buFont typeface="Arial"/>
              <a:buChar char="●"/>
            </a:pPr>
            <a:r>
              <a:rPr lang="en">
                <a:latin typeface="Arial"/>
                <a:ea typeface="Arial"/>
                <a:cs typeface="Arial"/>
                <a:sym typeface="Arial"/>
              </a:rPr>
              <a:t>Sky Computing architecture enables the management of various cloud services from different providers through an intermediate layer.</a:t>
            </a:r>
            <a:endParaRPr>
              <a:latin typeface="Arial"/>
              <a:ea typeface="Arial"/>
              <a:cs typeface="Arial"/>
              <a:sym typeface="Arial"/>
            </a:endParaRPr>
          </a:p>
          <a:p>
            <a:pPr indent="-311150" lvl="0" marL="457200" rtl="0" algn="just">
              <a:spcBef>
                <a:spcPts val="0"/>
              </a:spcBef>
              <a:spcAft>
                <a:spcPts val="0"/>
              </a:spcAft>
              <a:buSzPts val="1300"/>
              <a:buFont typeface="Arial"/>
              <a:buChar char="●"/>
            </a:pPr>
            <a:r>
              <a:rPr lang="en">
                <a:latin typeface="Arial"/>
                <a:ea typeface="Arial"/>
                <a:cs typeface="Arial"/>
                <a:sym typeface="Arial"/>
              </a:rPr>
              <a:t>Cloud orchestrators, such as Terraform and Cloudify, are responsible for resource provisioning, elasticity, and infrastructure management.</a:t>
            </a:r>
            <a:endParaRPr>
              <a:latin typeface="Arial"/>
              <a:ea typeface="Arial"/>
              <a:cs typeface="Arial"/>
              <a:sym typeface="Arial"/>
            </a:endParaRPr>
          </a:p>
          <a:p>
            <a:pPr indent="0" lvl="0" marL="0" rtl="0" algn="just">
              <a:spcBef>
                <a:spcPts val="1200"/>
              </a:spcBef>
              <a:spcAft>
                <a:spcPts val="1200"/>
              </a:spcAft>
              <a:buNone/>
            </a:pPr>
            <a:r>
              <a:t/>
            </a:r>
            <a:endParaRPr>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Methodology</a:t>
            </a:r>
            <a:endParaRPr/>
          </a:p>
        </p:txBody>
      </p:sp>
      <p:sp>
        <p:nvSpPr>
          <p:cNvPr id="296" name="Google Shape;296;p1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just">
              <a:spcBef>
                <a:spcPts val="0"/>
              </a:spcBef>
              <a:spcAft>
                <a:spcPts val="0"/>
              </a:spcAft>
              <a:buSzPts val="1300"/>
              <a:buFont typeface="Arial"/>
              <a:buChar char="●"/>
            </a:pPr>
            <a:r>
              <a:rPr lang="en">
                <a:latin typeface="Arial"/>
                <a:ea typeface="Arial"/>
                <a:cs typeface="Arial"/>
                <a:sym typeface="Arial"/>
              </a:rPr>
              <a:t>The experiment aimed to compare the performance of Terraform and Cloudify as multicloud orchestrators.A simulated multi cloud environment was created, consisting of three leading cloud providers: Amazon AWS, Google Cloud Platform, and Microsoft Azure.</a:t>
            </a:r>
            <a:endParaRPr>
              <a:latin typeface="Arial"/>
              <a:ea typeface="Arial"/>
              <a:cs typeface="Arial"/>
              <a:sym typeface="Arial"/>
            </a:endParaRPr>
          </a:p>
          <a:p>
            <a:pPr indent="-311150" lvl="0" marL="457200" rtl="0" algn="just">
              <a:spcBef>
                <a:spcPts val="0"/>
              </a:spcBef>
              <a:spcAft>
                <a:spcPts val="0"/>
              </a:spcAft>
              <a:buSzPts val="1300"/>
              <a:buFont typeface="Arial"/>
              <a:buChar char="●"/>
            </a:pPr>
            <a:r>
              <a:rPr lang="en">
                <a:latin typeface="Arial"/>
                <a:ea typeface="Arial"/>
                <a:cs typeface="Arial"/>
                <a:sym typeface="Arial"/>
              </a:rPr>
              <a:t>The research paper compared the performance and capabilities of several multi cloud orchestration tools, including Terraform, Cloudify, Heat, and CloudFormation. The experiment aimed to evaluate their efficiency and effectiveness in real-world scenarios.</a:t>
            </a:r>
            <a:endParaRPr>
              <a:latin typeface="Arial"/>
              <a:ea typeface="Arial"/>
              <a:cs typeface="Arial"/>
              <a:sym typeface="Arial"/>
            </a:endParaRPr>
          </a:p>
          <a:p>
            <a:pPr indent="0" lvl="0" marL="457200" rtl="0" algn="just">
              <a:spcBef>
                <a:spcPts val="1200"/>
              </a:spcBef>
              <a:spcAft>
                <a:spcPts val="0"/>
              </a:spcAft>
              <a:buNone/>
            </a:pPr>
            <a:r>
              <a:t/>
            </a:r>
            <a:endParaRPr>
              <a:latin typeface="Arial"/>
              <a:ea typeface="Arial"/>
              <a:cs typeface="Arial"/>
              <a:sym typeface="Arial"/>
            </a:endParaRPr>
          </a:p>
          <a:p>
            <a:pPr indent="0" lvl="0" marL="457200" rtl="0" algn="just">
              <a:spcBef>
                <a:spcPts val="1200"/>
              </a:spcBef>
              <a:spcAft>
                <a:spcPts val="1200"/>
              </a:spcAft>
              <a:buNone/>
            </a:pPr>
            <a:r>
              <a:t/>
            </a:r>
            <a:endParaRPr>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02" name="Google Shape;302;p17"/>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just">
              <a:spcBef>
                <a:spcPts val="0"/>
              </a:spcBef>
              <a:spcAft>
                <a:spcPts val="0"/>
              </a:spcAft>
              <a:buSzPts val="1300"/>
              <a:buFont typeface="Arial"/>
              <a:buChar char="●"/>
            </a:pPr>
            <a:r>
              <a:rPr lang="en">
                <a:latin typeface="Arial"/>
                <a:ea typeface="Arial"/>
                <a:cs typeface="Arial"/>
                <a:sym typeface="Arial"/>
              </a:rPr>
              <a:t>The experiment focused on provisioning and deprovisioning processes in different geographic regions, including London, </a:t>
            </a:r>
            <a:endParaRPr>
              <a:latin typeface="Arial"/>
              <a:ea typeface="Arial"/>
              <a:cs typeface="Arial"/>
              <a:sym typeface="Arial"/>
            </a:endParaRPr>
          </a:p>
          <a:p>
            <a:pPr indent="-311150" lvl="0" marL="457200" rtl="0" algn="just">
              <a:spcBef>
                <a:spcPts val="0"/>
              </a:spcBef>
              <a:spcAft>
                <a:spcPts val="0"/>
              </a:spcAft>
              <a:buSzPts val="1300"/>
              <a:buFont typeface="Arial"/>
              <a:buChar char="●"/>
            </a:pPr>
            <a:r>
              <a:rPr lang="en">
                <a:latin typeface="Arial"/>
                <a:ea typeface="Arial"/>
                <a:cs typeface="Arial"/>
                <a:sym typeface="Arial"/>
              </a:rPr>
              <a:t>Several metrics were collected during the experiment to evaluate the performance of the orchestrators.Key metrics included CPU usage, memory consumption, disk activity, and network traffic.</a:t>
            </a:r>
            <a:endParaRPr>
              <a:latin typeface="Arial"/>
              <a:ea typeface="Arial"/>
              <a:cs typeface="Arial"/>
              <a:sym typeface="Arial"/>
            </a:endParaRPr>
          </a:p>
          <a:p>
            <a:pPr indent="-311150" lvl="0" marL="457200" rtl="0" algn="just">
              <a:spcBef>
                <a:spcPts val="0"/>
              </a:spcBef>
              <a:spcAft>
                <a:spcPts val="0"/>
              </a:spcAft>
              <a:buSzPts val="1300"/>
              <a:buFont typeface="Arial"/>
              <a:buChar char="●"/>
            </a:pPr>
            <a:r>
              <a:rPr lang="en">
                <a:latin typeface="Arial"/>
                <a:ea typeface="Arial"/>
                <a:cs typeface="Arial"/>
                <a:sym typeface="Arial"/>
              </a:rPr>
              <a:t>The experiment aimed to evaluate the efficiency and effectiveness of both orchestrators in real-world scenarios.The data collected during the experiment was analyzed to evaluate the performance of Terraform and Cloudify.</a:t>
            </a:r>
            <a:endParaRPr>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08" name="Google Shape;308;p18"/>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just">
              <a:spcBef>
                <a:spcPts val="0"/>
              </a:spcBef>
              <a:spcAft>
                <a:spcPts val="0"/>
              </a:spcAft>
              <a:buSzPts val="1300"/>
              <a:buFont typeface="Arial"/>
              <a:buChar char="●"/>
            </a:pPr>
            <a:r>
              <a:rPr lang="en">
                <a:latin typeface="Arial"/>
                <a:ea typeface="Arial"/>
                <a:cs typeface="Arial"/>
                <a:sym typeface="Arial"/>
              </a:rPr>
              <a:t>Average execution times, resource utilization, and other relevant metrics were calculated and compared between the two orchestrators.</a:t>
            </a:r>
            <a:endParaRPr>
              <a:latin typeface="Arial"/>
              <a:ea typeface="Arial"/>
              <a:cs typeface="Arial"/>
              <a:sym typeface="Arial"/>
            </a:endParaRPr>
          </a:p>
          <a:p>
            <a:pPr indent="-311150" lvl="0" marL="457200" rtl="0" algn="just">
              <a:spcBef>
                <a:spcPts val="0"/>
              </a:spcBef>
              <a:spcAft>
                <a:spcPts val="0"/>
              </a:spcAft>
              <a:buSzPts val="1300"/>
              <a:buFont typeface="Arial"/>
              <a:buChar char="●"/>
            </a:pPr>
            <a:r>
              <a:rPr lang="en">
                <a:latin typeface="Arial"/>
                <a:ea typeface="Arial"/>
                <a:cs typeface="Arial"/>
                <a:sym typeface="Arial"/>
              </a:rPr>
              <a:t>The analysis aimed to identify differences in resource allocation efficiency, provisioning speed, and overall performance.</a:t>
            </a:r>
            <a:endParaRPr>
              <a:latin typeface="Arial"/>
              <a:ea typeface="Arial"/>
              <a:cs typeface="Arial"/>
              <a:sym typeface="Arial"/>
            </a:endParaRPr>
          </a:p>
          <a:p>
            <a:pPr indent="0" lvl="0" marL="457200" rtl="0" algn="just">
              <a:spcBef>
                <a:spcPts val="1200"/>
              </a:spcBef>
              <a:spcAft>
                <a:spcPts val="1200"/>
              </a:spcAft>
              <a:buNone/>
            </a:pPr>
            <a:r>
              <a:t/>
            </a:r>
            <a:endParaRPr>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and Analysis</a:t>
            </a:r>
            <a:endParaRPr/>
          </a:p>
        </p:txBody>
      </p:sp>
      <p:sp>
        <p:nvSpPr>
          <p:cNvPr id="314" name="Google Shape;314;p19"/>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311468" lvl="0" marL="457200" rtl="0" algn="just">
              <a:lnSpc>
                <a:spcPct val="95000"/>
              </a:lnSpc>
              <a:spcBef>
                <a:spcPts val="0"/>
              </a:spcBef>
              <a:spcAft>
                <a:spcPts val="0"/>
              </a:spcAft>
              <a:buSzPts val="1305"/>
              <a:buChar char="●"/>
            </a:pPr>
            <a:r>
              <a:rPr lang="en" sz="1305"/>
              <a:t>The experiment aimed to evaluate the performance and capabilities of Terraform, Cloudify, Heat, and CloudFormation in the context of Sky Computing. The results revealed significant differences among the tools.</a:t>
            </a:r>
            <a:endParaRPr sz="1305"/>
          </a:p>
          <a:p>
            <a:pPr indent="-311468" lvl="0" marL="457200" rtl="0" algn="just">
              <a:lnSpc>
                <a:spcPct val="95000"/>
              </a:lnSpc>
              <a:spcBef>
                <a:spcPts val="0"/>
              </a:spcBef>
              <a:spcAft>
                <a:spcPts val="0"/>
              </a:spcAft>
              <a:buSzPts val="1305"/>
              <a:buChar char="●"/>
            </a:pPr>
            <a:r>
              <a:rPr lang="en" sz="1305"/>
              <a:t>In terms of resource allocation and provisioning speed, Terraform demonstrated superior performance compared to Cloudify, Heat, and CloudFormation. Its efficient infrastructure management capabilities allowed for faster deployment and scaling of resources in multi cloud environments.</a:t>
            </a:r>
            <a:endParaRPr sz="1305"/>
          </a:p>
          <a:p>
            <a:pPr indent="-311468" lvl="0" marL="457200" rtl="0" algn="just">
              <a:lnSpc>
                <a:spcPct val="95000"/>
              </a:lnSpc>
              <a:spcBef>
                <a:spcPts val="0"/>
              </a:spcBef>
              <a:spcAft>
                <a:spcPts val="0"/>
              </a:spcAft>
              <a:buSzPts val="1305"/>
              <a:buChar char="●"/>
            </a:pPr>
            <a:r>
              <a:rPr lang="en" sz="1305"/>
              <a:t>Cloudify also showcased compatibility with Sky Computing, but it fell short in terms of performance compared to Terraform. Heat and CloudFormation, while offering orchestration capabilities, lacked the necessary features and support for industry-leading providers to effectively operate in the Sky Computing paradigm.</a:t>
            </a:r>
            <a:endParaRPr sz="1305"/>
          </a:p>
          <a:p>
            <a:pPr indent="0" lvl="0" marL="457200" rtl="0" algn="just">
              <a:lnSpc>
                <a:spcPct val="95000"/>
              </a:lnSpc>
              <a:spcBef>
                <a:spcPts val="1200"/>
              </a:spcBef>
              <a:spcAft>
                <a:spcPts val="0"/>
              </a:spcAft>
              <a:buSzPts val="935"/>
              <a:buNone/>
            </a:pPr>
            <a:r>
              <a:t/>
            </a:r>
            <a:endParaRPr sz="1305"/>
          </a:p>
          <a:p>
            <a:pPr indent="0" lvl="0" marL="457200" rtl="0" algn="just">
              <a:lnSpc>
                <a:spcPct val="95000"/>
              </a:lnSpc>
              <a:spcBef>
                <a:spcPts val="1200"/>
              </a:spcBef>
              <a:spcAft>
                <a:spcPts val="1200"/>
              </a:spcAft>
              <a:buSzPts val="935"/>
              <a:buNone/>
            </a:pPr>
            <a:r>
              <a:t/>
            </a:r>
            <a:endParaRPr sz="1305"/>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20" name="Google Shape;320;p20"/>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Terraform ability to handle complex topologies and manage interdependencies between cloud services made it a preferred choice for Sky Computing environments. Its support for infrastructure as code principles and version control allowed for efficient collaboration and reproducibility of deployments.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326" name="Google Shape;326;p21"/>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just">
              <a:spcBef>
                <a:spcPts val="0"/>
              </a:spcBef>
              <a:spcAft>
                <a:spcPts val="0"/>
              </a:spcAft>
              <a:buSzPts val="1300"/>
              <a:buChar char="●"/>
            </a:pPr>
            <a:r>
              <a:rPr lang="en"/>
              <a:t>The research paper compared the performance and capabilities of Terraform, Cloudify, Heat, and CloudFormation as multi cloud orchestrators in the context of Sky Computing. Based on the experiment results, Terraform emerged as a superior choice compared to the other tools.</a:t>
            </a:r>
            <a:endParaRPr/>
          </a:p>
          <a:p>
            <a:pPr indent="-311150" lvl="0" marL="457200" rtl="0" algn="just">
              <a:spcBef>
                <a:spcPts val="0"/>
              </a:spcBef>
              <a:spcAft>
                <a:spcPts val="0"/>
              </a:spcAft>
              <a:buSzPts val="1300"/>
              <a:buChar char="●"/>
            </a:pPr>
            <a:r>
              <a:rPr lang="en"/>
              <a:t>Terraform affinity with Sky Computing scenarios was evident in its ability to efficiently manage complex cloud environments. Its declarative language, extensive provider ecosystem, and support for various infrastructure platforms make it a suitable choice for orchestrating multi cloud deployments in the Sky Computing paradigm.</a:t>
            </a:r>
            <a:endParaRPr/>
          </a:p>
          <a:p>
            <a:pPr indent="0" lvl="0" marL="457200" rtl="0" algn="just">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